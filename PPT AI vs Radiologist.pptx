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7"/>
  </p:notesMasterIdLst>
  <p:sldIdLst>
    <p:sldId id="277" r:id="rId2"/>
    <p:sldId id="276" r:id="rId3"/>
    <p:sldId id="289" r:id="rId4"/>
    <p:sldId id="278" r:id="rId5"/>
    <p:sldId id="283" r:id="rId6"/>
    <p:sldId id="279" r:id="rId7"/>
    <p:sldId id="280" r:id="rId8"/>
    <p:sldId id="282" r:id="rId9"/>
    <p:sldId id="281" r:id="rId10"/>
    <p:sldId id="288" r:id="rId11"/>
    <p:sldId id="290" r:id="rId12"/>
    <p:sldId id="285" r:id="rId13"/>
    <p:sldId id="284" r:id="rId14"/>
    <p:sldId id="286" r:id="rId15"/>
    <p:sldId id="287" r:id="rId16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18"/>
      <p:bold r:id="rId19"/>
      <p:italic r:id="rId20"/>
      <p:boldItalic r:id="rId21"/>
    </p:embeddedFont>
    <p:embeddedFont>
      <p:font typeface="Barlow Semi Condensed ExtraBold" panose="00000906000000000000" pitchFamily="2" charset="0"/>
      <p:bold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471CA4-3704-4ED3-ADB2-1DB0AA67CE59}">
  <a:tblStyle styleId="{B3471CA4-3704-4ED3-ADB2-1DB0AA67CE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B9194A-F915-4BB7-9AA3-ACAF5FDAFC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8"/>
          <p:cNvGrpSpPr/>
          <p:nvPr/>
        </p:nvGrpSpPr>
        <p:grpSpPr>
          <a:xfrm flipH="1">
            <a:off x="-5075" y="-10625"/>
            <a:ext cx="9154028" cy="5164775"/>
            <a:chOff x="-150" y="-10625"/>
            <a:chExt cx="9154028" cy="5164775"/>
          </a:xfrm>
        </p:grpSpPr>
        <p:sp>
          <p:nvSpPr>
            <p:cNvPr id="89" name="Google Shape;89;p8"/>
            <p:cNvSpPr/>
            <p:nvPr/>
          </p:nvSpPr>
          <p:spPr>
            <a:xfrm>
              <a:off x="-22" y="-10625"/>
              <a:ext cx="91539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-150" y="4921950"/>
              <a:ext cx="9153900" cy="23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-100" y="4608450"/>
              <a:ext cx="7152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</p:grpSp>
      <p:sp>
        <p:nvSpPr>
          <p:cNvPr id="92" name="Google Shape;92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8688750" y="4375988"/>
            <a:ext cx="465000" cy="465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 flipH="1">
            <a:off x="-25" y="0"/>
            <a:ext cx="9144050" cy="5154150"/>
            <a:chOff x="-25" y="0"/>
            <a:chExt cx="9144050" cy="5154150"/>
          </a:xfrm>
        </p:grpSpPr>
        <p:sp>
          <p:nvSpPr>
            <p:cNvPr id="98" name="Google Shape;98;p9"/>
            <p:cNvSpPr/>
            <p:nvPr/>
          </p:nvSpPr>
          <p:spPr>
            <a:xfrm rot="10800000" flipH="1">
              <a:off x="-25" y="0"/>
              <a:ext cx="9144000" cy="23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8069125" y="4608450"/>
              <a:ext cx="10749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-25" y="4921950"/>
              <a:ext cx="9144000" cy="23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9"/>
          <p:cNvGrpSpPr/>
          <p:nvPr/>
        </p:nvGrpSpPr>
        <p:grpSpPr>
          <a:xfrm flipH="1">
            <a:off x="113175" y="-498775"/>
            <a:ext cx="8787625" cy="5249038"/>
            <a:chOff x="243200" y="-498775"/>
            <a:chExt cx="8787625" cy="5249038"/>
          </a:xfrm>
        </p:grpSpPr>
        <p:sp>
          <p:nvSpPr>
            <p:cNvPr id="102" name="Google Shape;102;p9"/>
            <p:cNvSpPr/>
            <p:nvPr/>
          </p:nvSpPr>
          <p:spPr>
            <a:xfrm rot="-5400000">
              <a:off x="243200" y="-498775"/>
              <a:ext cx="943800" cy="943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8565825" y="4285263"/>
              <a:ext cx="465000" cy="4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4"/>
          <p:cNvGrpSpPr/>
          <p:nvPr/>
        </p:nvGrpSpPr>
        <p:grpSpPr>
          <a:xfrm rot="10800000" flipH="1">
            <a:off x="8553875" y="3862502"/>
            <a:ext cx="959332" cy="307869"/>
            <a:chOff x="1937932" y="4457355"/>
            <a:chExt cx="959332" cy="307869"/>
          </a:xfrm>
        </p:grpSpPr>
        <p:sp>
          <p:nvSpPr>
            <p:cNvPr id="151" name="Google Shape;151;p14"/>
            <p:cNvSpPr/>
            <p:nvPr/>
          </p:nvSpPr>
          <p:spPr>
            <a:xfrm rot="10800000">
              <a:off x="2842363" y="4710323"/>
              <a:ext cx="54900" cy="5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 rot="10800000">
              <a:off x="2390147" y="4710323"/>
              <a:ext cx="54900" cy="5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 rot="10800000">
              <a:off x="1937932" y="4710323"/>
              <a:ext cx="54900" cy="5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 rot="10800000">
              <a:off x="2842363" y="4457355"/>
              <a:ext cx="54900" cy="5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 rot="10800000">
              <a:off x="2390147" y="4457355"/>
              <a:ext cx="54900" cy="5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 rot="10800000">
              <a:off x="1937932" y="4457355"/>
              <a:ext cx="54900" cy="5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p14"/>
          <p:cNvGrpSpPr/>
          <p:nvPr/>
        </p:nvGrpSpPr>
        <p:grpSpPr>
          <a:xfrm>
            <a:off x="-9" y="0"/>
            <a:ext cx="9144009" cy="5154150"/>
            <a:chOff x="-9" y="0"/>
            <a:chExt cx="9144009" cy="5154150"/>
          </a:xfrm>
        </p:grpSpPr>
        <p:sp>
          <p:nvSpPr>
            <p:cNvPr id="158" name="Google Shape;158;p14"/>
            <p:cNvSpPr/>
            <p:nvPr/>
          </p:nvSpPr>
          <p:spPr>
            <a:xfrm rot="10800000">
              <a:off x="0" y="0"/>
              <a:ext cx="9144000" cy="23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 flipH="1">
              <a:off x="0" y="4921950"/>
              <a:ext cx="9144000" cy="23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 flipH="1">
              <a:off x="-9" y="4608450"/>
              <a:ext cx="7152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 rot="10800000" flipH="1">
              <a:off x="8428782" y="0"/>
              <a:ext cx="7152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-296255" y="313163"/>
            <a:ext cx="9315124" cy="3149713"/>
            <a:chOff x="-296255" y="313163"/>
            <a:chExt cx="9315124" cy="3149713"/>
          </a:xfrm>
        </p:grpSpPr>
        <p:sp>
          <p:nvSpPr>
            <p:cNvPr id="163" name="Google Shape;163;p14"/>
            <p:cNvSpPr/>
            <p:nvPr/>
          </p:nvSpPr>
          <p:spPr>
            <a:xfrm rot="10800000">
              <a:off x="-296255" y="2810975"/>
              <a:ext cx="651900" cy="65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 rot="10800000">
              <a:off x="8553869" y="313163"/>
              <a:ext cx="465000" cy="4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Barlow Semi Condensed ExtraBold"/>
              <a:buNone/>
              <a:defRPr b="0"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1"/>
          <p:cNvGrpSpPr/>
          <p:nvPr/>
        </p:nvGrpSpPr>
        <p:grpSpPr>
          <a:xfrm>
            <a:off x="-25" y="-10637"/>
            <a:ext cx="9144000" cy="5164788"/>
            <a:chOff x="-25" y="-10637"/>
            <a:chExt cx="9144000" cy="5164788"/>
          </a:xfrm>
        </p:grpSpPr>
        <p:sp>
          <p:nvSpPr>
            <p:cNvPr id="260" name="Google Shape;260;p21"/>
            <p:cNvSpPr/>
            <p:nvPr/>
          </p:nvSpPr>
          <p:spPr>
            <a:xfrm>
              <a:off x="-25" y="4921938"/>
              <a:ext cx="9144000" cy="23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-25" y="-10637"/>
              <a:ext cx="91440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 flipH="1">
              <a:off x="200" y="4608450"/>
              <a:ext cx="7149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21"/>
          <p:cNvGrpSpPr/>
          <p:nvPr/>
        </p:nvGrpSpPr>
        <p:grpSpPr>
          <a:xfrm flipH="1">
            <a:off x="137372" y="111550"/>
            <a:ext cx="8938538" cy="4961938"/>
            <a:chOff x="137372" y="111550"/>
            <a:chExt cx="8938538" cy="4961938"/>
          </a:xfrm>
        </p:grpSpPr>
        <p:sp>
          <p:nvSpPr>
            <p:cNvPr id="264" name="Google Shape;264;p21"/>
            <p:cNvSpPr/>
            <p:nvPr/>
          </p:nvSpPr>
          <p:spPr>
            <a:xfrm flipH="1">
              <a:off x="8424009" y="111550"/>
              <a:ext cx="651900" cy="65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137372" y="4608488"/>
              <a:ext cx="465000" cy="465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/>
          <p:nvPr/>
        </p:nvSpPr>
        <p:spPr>
          <a:xfrm rot="10800000" flipH="1">
            <a:off x="-25" y="13"/>
            <a:ext cx="9144000" cy="23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2"/>
          <p:cNvGrpSpPr/>
          <p:nvPr/>
        </p:nvGrpSpPr>
        <p:grpSpPr>
          <a:xfrm>
            <a:off x="-25" y="0"/>
            <a:ext cx="9144000" cy="5154150"/>
            <a:chOff x="-25" y="0"/>
            <a:chExt cx="9144000" cy="5154150"/>
          </a:xfrm>
        </p:grpSpPr>
        <p:sp>
          <p:nvSpPr>
            <p:cNvPr id="269" name="Google Shape;269;p22"/>
            <p:cNvSpPr/>
            <p:nvPr/>
          </p:nvSpPr>
          <p:spPr>
            <a:xfrm>
              <a:off x="-25" y="4921938"/>
              <a:ext cx="9144000" cy="23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 flipH="1">
              <a:off x="200" y="4608450"/>
              <a:ext cx="7149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 rot="10800000">
              <a:off x="6779800" y="0"/>
              <a:ext cx="2364000" cy="545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●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○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■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●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○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■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●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○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Char char="■"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8" r:id="rId4"/>
    <p:sldLayoutId id="2147483660" r:id="rId5"/>
    <p:sldLayoutId id="2147483667" r:id="rId6"/>
    <p:sldLayoutId id="214748366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6C33-2F95-18E8-636F-DC477708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89;p26">
            <a:extLst>
              <a:ext uri="{FF2B5EF4-FFF2-40B4-BE49-F238E27FC236}">
                <a16:creationId xmlns:a16="http://schemas.microsoft.com/office/drawing/2014/main" id="{13727519-5A29-A504-1E9C-D37FE7DF80F3}"/>
              </a:ext>
            </a:extLst>
          </p:cNvPr>
          <p:cNvSpPr txBox="1">
            <a:spLocks/>
          </p:cNvSpPr>
          <p:nvPr/>
        </p:nvSpPr>
        <p:spPr>
          <a:xfrm>
            <a:off x="800747" y="361032"/>
            <a:ext cx="7542506" cy="757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 ExtraBold"/>
              <a:buNone/>
              <a:defRPr sz="30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 ExtraBold"/>
              <a:buNone/>
              <a:defRPr sz="3500" b="0" i="0" u="none" strike="noStrike" cap="none">
                <a:solidFill>
                  <a:schemeClr val="dk1"/>
                </a:solidFill>
                <a:latin typeface="Barlow Semi Condensed ExtraBold"/>
                <a:ea typeface="Barlow Semi Condensed ExtraBold"/>
                <a:cs typeface="Barlow Semi Condensed ExtraBold"/>
                <a:sym typeface="Barlow Semi Condensed ExtraBold"/>
              </a:defRPr>
            </a:lvl9pPr>
          </a:lstStyle>
          <a:p>
            <a:r>
              <a:rPr lang="en-US" sz="1600" dirty="0">
                <a:solidFill>
                  <a:schemeClr val="tx2"/>
                </a:solidFill>
              </a:rPr>
              <a:t>THE DIAGNOSTIC PRECISION OF ARTIFICIAL INTELLIGENCE COMPARED TO RADIOLOGISTS IN INTERPRETING VARIOUS PATHOLOGIES ON CHEST RADIOGRAPH A SYSTEMATIC REVIEW AND PROPORTION META-ANALYSIS</a:t>
            </a:r>
          </a:p>
        </p:txBody>
      </p:sp>
      <p:sp>
        <p:nvSpPr>
          <p:cNvPr id="6" name="Google Shape;290;p26">
            <a:extLst>
              <a:ext uri="{FF2B5EF4-FFF2-40B4-BE49-F238E27FC236}">
                <a16:creationId xmlns:a16="http://schemas.microsoft.com/office/drawing/2014/main" id="{2D76F34B-3DB1-2697-8963-95A8F35347DE}"/>
              </a:ext>
            </a:extLst>
          </p:cNvPr>
          <p:cNvSpPr txBox="1">
            <a:spLocks/>
          </p:cNvSpPr>
          <p:nvPr/>
        </p:nvSpPr>
        <p:spPr>
          <a:xfrm>
            <a:off x="2190970" y="1318001"/>
            <a:ext cx="4025532" cy="16956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00" b="1" dirty="0"/>
              <a:t>OTIJI ONYINYECHI JENNIFER                                          2020/249477</a:t>
            </a:r>
            <a:endParaRPr lang="en-US" sz="900" dirty="0"/>
          </a:p>
          <a:p>
            <a:r>
              <a:rPr lang="en-US" sz="900" b="1" dirty="0"/>
              <a:t>OZIOKO NNAEMEKA JOHNPAUL                                     2019/248590</a:t>
            </a:r>
            <a:endParaRPr lang="en-US" sz="900" dirty="0"/>
          </a:p>
          <a:p>
            <a:r>
              <a:rPr lang="en-US" sz="900" b="1" dirty="0"/>
              <a:t>OZOR ETHELBART OBIOMA                                             2020/248158</a:t>
            </a:r>
            <a:endParaRPr lang="en-US" sz="900" dirty="0"/>
          </a:p>
          <a:p>
            <a:r>
              <a:rPr lang="en-US" sz="900" b="1" dirty="0"/>
              <a:t>OZOR PRECIOUS IFEGADI                                                 2020/248145</a:t>
            </a:r>
            <a:endParaRPr lang="en-US" sz="900" dirty="0"/>
          </a:p>
          <a:p>
            <a:r>
              <a:rPr lang="en-US" sz="900" b="1" dirty="0"/>
              <a:t>PATRICK VICTORY OLUEBUBE                                       2020/244832</a:t>
            </a:r>
            <a:endParaRPr lang="en-US" sz="900" dirty="0"/>
          </a:p>
          <a:p>
            <a:r>
              <a:rPr lang="en-US" sz="900" b="1" dirty="0"/>
              <a:t>PROMISE-IHEONUNEKWU UCHECHUKWU                  2020/243778</a:t>
            </a:r>
            <a:endParaRPr lang="en-US" sz="900" dirty="0"/>
          </a:p>
          <a:p>
            <a:r>
              <a:rPr lang="en-US" sz="900" b="1" dirty="0"/>
              <a:t>ROWLAND MIRACLE CHIDERA                                         2020/245755</a:t>
            </a:r>
            <a:endParaRPr lang="en-US" sz="900" dirty="0"/>
          </a:p>
          <a:p>
            <a:r>
              <a:rPr lang="en-US" sz="900" b="1" dirty="0"/>
              <a:t>SAMUEL MARTINS KENECHUKWU                                 2020/244845</a:t>
            </a:r>
            <a:endParaRPr lang="en-US" sz="900" dirty="0"/>
          </a:p>
          <a:p>
            <a:r>
              <a:rPr lang="en-US" sz="900" b="1" dirty="0"/>
              <a:t>SANUSI ORIPANYE MOSHOOD                                        2020/248150</a:t>
            </a:r>
            <a:endParaRPr lang="en-US" sz="900" dirty="0"/>
          </a:p>
          <a:p>
            <a:r>
              <a:rPr lang="en-US" sz="900" b="1" dirty="0"/>
              <a:t>SHAIBU STEPHANIE UFEDO                                                2020/244827</a:t>
            </a:r>
            <a:endParaRPr lang="en-US" sz="900" dirty="0"/>
          </a:p>
        </p:txBody>
      </p:sp>
      <p:sp>
        <p:nvSpPr>
          <p:cNvPr id="7" name="Google Shape;290;p26">
            <a:extLst>
              <a:ext uri="{FF2B5EF4-FFF2-40B4-BE49-F238E27FC236}">
                <a16:creationId xmlns:a16="http://schemas.microsoft.com/office/drawing/2014/main" id="{1FD1976F-3EE6-9BF4-9B31-FC7B25935F59}"/>
              </a:ext>
            </a:extLst>
          </p:cNvPr>
          <p:cNvSpPr txBox="1">
            <a:spLocks/>
          </p:cNvSpPr>
          <p:nvPr/>
        </p:nvSpPr>
        <p:spPr>
          <a:xfrm>
            <a:off x="4129838" y="1017782"/>
            <a:ext cx="680035" cy="60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6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r>
              <a:rPr lang="en-US" sz="1050" b="1" dirty="0"/>
              <a:t>BY</a:t>
            </a:r>
            <a:endParaRPr lang="en-US" sz="1050" dirty="0"/>
          </a:p>
        </p:txBody>
      </p:sp>
      <p:sp>
        <p:nvSpPr>
          <p:cNvPr id="8" name="Google Shape;290;p26">
            <a:extLst>
              <a:ext uri="{FF2B5EF4-FFF2-40B4-BE49-F238E27FC236}">
                <a16:creationId xmlns:a16="http://schemas.microsoft.com/office/drawing/2014/main" id="{A3E679B0-CD7A-BC9E-861E-4C8940EAC5E8}"/>
              </a:ext>
            </a:extLst>
          </p:cNvPr>
          <p:cNvSpPr txBox="1">
            <a:spLocks/>
          </p:cNvSpPr>
          <p:nvPr/>
        </p:nvSpPr>
        <p:spPr>
          <a:xfrm>
            <a:off x="652991" y="3013682"/>
            <a:ext cx="7237228" cy="189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6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rbanist Medium"/>
              <a:buNone/>
              <a:defRPr sz="1800" b="0" i="0" u="none" strike="noStrike" cap="none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algn="ctr"/>
            <a:r>
              <a:rPr lang="en-US" sz="1000" b="1" dirty="0"/>
              <a:t>A PROJECT PRESENTED IN PARTIAL FULFILMENT OF THE REQUIREMENTS FOR THE AWARD OF BACHELOR OF SCIENCE (B.Sc.) DEGREE IN MEDICAL RADIOGRAPHY AND RADIOLOGICAL SCIENCES</a:t>
            </a:r>
            <a:endParaRPr lang="en-US" sz="1000" dirty="0"/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DEPARTMENT OF MEDICAL RADIOGRAPHY AND RADIOLOGICAL SCIENCES</a:t>
            </a:r>
            <a:endParaRPr lang="en-US" sz="1000" dirty="0"/>
          </a:p>
          <a:p>
            <a:pPr algn="ctr"/>
            <a:r>
              <a:rPr lang="en-US" sz="1000" b="1" dirty="0"/>
              <a:t>FACULTY OF HEALTH SCIENCES AND TECHNOLOGY</a:t>
            </a:r>
            <a:endParaRPr lang="en-US" sz="1000" dirty="0"/>
          </a:p>
          <a:p>
            <a:pPr algn="ctr"/>
            <a:r>
              <a:rPr lang="en-US" sz="1000" b="1" dirty="0"/>
              <a:t>UNIVERSITY OF NIGERIA, ENUGU CAMPUS, COLLEGE OF MEDICINE</a:t>
            </a:r>
            <a:endParaRPr lang="en-US" sz="1000" dirty="0"/>
          </a:p>
          <a:p>
            <a:pPr algn="ctr"/>
            <a:r>
              <a:rPr lang="en-US" sz="1000" b="1" dirty="0"/>
              <a:t> </a:t>
            </a:r>
            <a:endParaRPr lang="en-US" sz="1000" dirty="0"/>
          </a:p>
          <a:p>
            <a:pPr algn="ctr"/>
            <a:r>
              <a:rPr lang="en-US" sz="1000" b="1" dirty="0"/>
              <a:t> </a:t>
            </a:r>
            <a:endParaRPr lang="en-US" sz="1000" dirty="0"/>
          </a:p>
          <a:p>
            <a:pPr algn="ctr"/>
            <a:r>
              <a:rPr lang="en-US" sz="1000" b="1" dirty="0">
                <a:solidFill>
                  <a:schemeClr val="tx2"/>
                </a:solidFill>
              </a:rPr>
              <a:t>SUPERVISOR: </a:t>
            </a:r>
            <a:endParaRPr lang="en-US" sz="1000" dirty="0">
              <a:solidFill>
                <a:schemeClr val="tx2"/>
              </a:solidFill>
            </a:endParaRPr>
          </a:p>
          <a:p>
            <a:pPr algn="ctr"/>
            <a:r>
              <a:rPr lang="en-US" sz="1000" b="1" dirty="0">
                <a:solidFill>
                  <a:schemeClr val="tx2"/>
                </a:solidFill>
              </a:rPr>
              <a:t>DR SOBECHUKWU W.I ONWUZU</a:t>
            </a:r>
            <a:endParaRPr lang="en-US" sz="1000" dirty="0">
              <a:solidFill>
                <a:schemeClr val="tx2"/>
              </a:solidFill>
            </a:endParaRPr>
          </a:p>
          <a:p>
            <a:pPr algn="ctr"/>
            <a:r>
              <a:rPr lang="en-US" sz="1000" b="1" dirty="0">
                <a:solidFill>
                  <a:schemeClr val="tx2"/>
                </a:solidFill>
              </a:rPr>
              <a:t> </a:t>
            </a:r>
            <a:endParaRPr lang="en-US" sz="1000" dirty="0">
              <a:solidFill>
                <a:schemeClr val="tx2"/>
              </a:solidFill>
            </a:endParaRPr>
          </a:p>
          <a:p>
            <a:pPr algn="ctr"/>
            <a:r>
              <a:rPr lang="en-US" sz="1000" b="1" dirty="0">
                <a:solidFill>
                  <a:schemeClr val="tx2"/>
                </a:solidFill>
              </a:rPr>
              <a:t>NOVEMBER, 2025</a:t>
            </a:r>
            <a:endParaRPr lang="en-US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16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AC8DD6E1-1908-10D9-3475-995C84799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0884" y="396949"/>
            <a:ext cx="1908279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OUTLINE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204A21-CFD2-EFE2-D54C-AB79FE03D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71" y="989372"/>
            <a:ext cx="65461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Title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Statement of the 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Objectives / Significance of the Study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Review of Related Literature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Research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Flow Chart of Database Search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Discussion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Summary of Findings / 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Areas of Further Research /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297132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CFC5B-0605-D697-1D70-BD6FAA766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5AD57149-F9F7-5B73-9AF2-A6578C502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609" y="382772"/>
            <a:ext cx="319278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INTRODUCTION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2123C0-4B86-4435-79B6-4AD9A87B3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485" y="993460"/>
            <a:ext cx="7241785" cy="361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Chest radiography is one of the most widely used diagnostic tools in medicine.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Essential for detecting thoracic diseases such as pneumonia, pleural effusion, pneumothorax, and lung cancer.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Interpretation accuracy varies due to radiologist workload, image quality, and clinical variables.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Rapid advancements in artificial intelligence (AI), especially deep learning, have introduced new diagnostic possibilities.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Questions remain regarding whether AI can match or exceed radiologists’ diagnostic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This research investigates comparative diagnostic precision between AI models and radiologists.</a:t>
            </a:r>
          </a:p>
        </p:txBody>
      </p:sp>
    </p:spTree>
    <p:extLst>
      <p:ext uri="{BB962C8B-B14F-4D97-AF65-F5344CB8AC3E}">
        <p14:creationId xmlns:p14="http://schemas.microsoft.com/office/powerpoint/2010/main" val="42630404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8943-8AA2-7A59-45B3-459E37AA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E9464FD4-D5FF-6101-0618-ABCF47614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4362" y="155944"/>
            <a:ext cx="4715275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</a:rPr>
              <a:t>Statement of the Problem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AEEB23-F07E-FE7B-3590-3BAC286F6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78" y="847604"/>
            <a:ext cx="5288094" cy="3744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Despite the growing use of AI in chest imaging, uncertainties persist about its diagnostic performance relative to radiologists.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Studies show mixed results—some report AI outperforming radiologists, others highlight inconsistent outcomes.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Lack of a consolidated systematic review limits informed decision-making on clinical integration of AI.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Need for evidence-based comparison to understand where AI excels and where it falls short.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73872C-D47A-95B5-6438-784395309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418" y="1148317"/>
            <a:ext cx="2366187" cy="236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7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5A36B-7942-5B7D-98E8-8D71803B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48F5380D-E514-4D61-6B18-044B56D9DA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102" y="155944"/>
            <a:ext cx="6756726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</a:rPr>
              <a:t>Objectives / Significance of the Study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9C481-930E-9E1E-11F0-D5ACB0620C61}"/>
              </a:ext>
            </a:extLst>
          </p:cNvPr>
          <p:cNvSpPr txBox="1"/>
          <p:nvPr/>
        </p:nvSpPr>
        <p:spPr>
          <a:xfrm>
            <a:off x="566317" y="656764"/>
            <a:ext cx="857768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General Objective: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1"/>
                </a:solidFill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To compare the diagnostic precision of AI and radiologists in interpreting chest radiograph pathologies through systematic review and proportion meta-analysis.</a:t>
            </a:r>
          </a:p>
          <a:p>
            <a:endParaRPr lang="en-US" sz="1600" dirty="0">
              <a:latin typeface="Urbanist Medium" panose="020B0604020202020204" charset="0"/>
              <a:ea typeface="Urbanist Medium" panose="020B0604020202020204" charset="0"/>
              <a:cs typeface="Urbanist Medium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Urbanist Medium" panose="020B0604020202020204" charset="0"/>
                <a:ea typeface="Urbanist Medium" panose="020B0604020202020204" charset="0"/>
                <a:cs typeface="Urbanist Medium" panose="020B0604020202020204" charset="0"/>
              </a:rPr>
              <a:t>Specific Objectives:</a:t>
            </a:r>
            <a:endParaRPr lang="en-US" sz="1600" dirty="0">
              <a:solidFill>
                <a:schemeClr val="tx2"/>
              </a:solidFill>
              <a:latin typeface="Urbanist Medium" panose="020B0604020202020204" charset="0"/>
              <a:ea typeface="Urbanist Medium" panose="020B0604020202020204" charset="0"/>
              <a:cs typeface="Urbanist Medium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Compare pooled diagnostic accuracy metrics (sensitivity, specificity, AUC) of AI vs radiologists.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Determine diagnostic accuracy of AI across specific thoracic abnormalities (e.g., TB, pneumonia, cardiomegaly).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Examine factors influencing AI performance (dataset size, model type, reference standard).</a:t>
            </a:r>
            <a:br>
              <a:rPr lang="en-US" sz="1600" b="1" dirty="0"/>
            </a:b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chemeClr val="tx2"/>
                </a:solidFill>
              </a:rPr>
              <a:t>Significance of the study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Provides evidence for integrating AI into radiology workflows, especially in resource-limited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Informs future AI development, regulatory frameworks, and ethical adoption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42704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AE84-A435-140C-4516-6B57752F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AED593D0-A9E5-4E75-579B-11B2D7AA6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7283" y="226828"/>
            <a:ext cx="5289433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</a:rPr>
              <a:t>Review of Related Literature 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A777C0-A37C-1D6C-42AF-A5B2E6AE8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45" y="875490"/>
            <a:ext cx="7216716" cy="4143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Moore (2022) emphasized the importance of chest radiography as one of the most common diagnostic tools, especially for identifying thoracic abnormalities such as pneumonia, pleural effusion, and heart enlargement.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Parkhomenko et al. (2021) discussed essential radiographic indicators, including rib positioning, lung markings, fissure lines, and mediastinal angles, which influence accurate CXR interpretation.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Arya &amp; Kumar (2023) highlighted the increasing workload on radiologists and the potential for diagnostic errors due to the ever-expanding volume of medical imaging.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9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3D15-26CB-5CCF-EE6C-386ED1E2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419EAFC1-59FD-700D-077A-74E497CD2C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4986" y="212651"/>
            <a:ext cx="4155293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</a:rPr>
              <a:t>Research Methodology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ECEBED-EC1D-A4AF-4AAE-888B60058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27" y="739030"/>
            <a:ext cx="8406809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Design: Systematic review and proportion meta-analysis.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Inclusion Criteria: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Studies comparing AI algorithms with radiologists using chest radiographs.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Studies reporting diagnostic accuracy metrics.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Publications from 2013–2025.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Exclusion Criteria: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Non-comparative studies, non-CXR modalities, non-English publications.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 Searched: PubMed, Scopus, Web of Science, IEEE Xplore, Google Scholar.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Strategy: Keywords combining “CXR”, “AI”, “radiologist”, “diagnostic accuracy”, etc.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Extraction: Study design, sample size, model type, radiologist comparator, diagnostic metrics.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Assessment: QUADAS-2 tool for bias and validity evaluation.</a:t>
            </a:r>
          </a:p>
        </p:txBody>
      </p:sp>
    </p:spTree>
    <p:extLst>
      <p:ext uri="{BB962C8B-B14F-4D97-AF65-F5344CB8AC3E}">
        <p14:creationId xmlns:p14="http://schemas.microsoft.com/office/powerpoint/2010/main" val="100551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8E20-64FD-785C-F968-606991B7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0B417787-0282-C35D-CB2F-B27A8114A8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4945" y="113497"/>
            <a:ext cx="319278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b="1" dirty="0">
                <a:solidFill>
                  <a:schemeClr val="tx2"/>
                </a:solidFill>
              </a:rPr>
              <a:t>Flow Chart of Database Search </a:t>
            </a:r>
            <a:endParaRPr sz="1800" dirty="0">
              <a:solidFill>
                <a:schemeClr val="tx2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86438B-02D8-A0B1-4E41-E4C699194AF7}"/>
              </a:ext>
            </a:extLst>
          </p:cNvPr>
          <p:cNvGrpSpPr/>
          <p:nvPr/>
        </p:nvGrpSpPr>
        <p:grpSpPr>
          <a:xfrm>
            <a:off x="1006845" y="629920"/>
            <a:ext cx="6157884" cy="4400083"/>
            <a:chOff x="0" y="0"/>
            <a:chExt cx="6405188" cy="69667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E4A1D9-6F1B-B724-5651-9562EC60AD10}"/>
                </a:ext>
              </a:extLst>
            </p:cNvPr>
            <p:cNvSpPr/>
            <p:nvPr/>
          </p:nvSpPr>
          <p:spPr>
            <a:xfrm>
              <a:off x="4004442" y="2301765"/>
              <a:ext cx="2194560" cy="4686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buNone/>
              </a:pPr>
              <a:endParaRPr lang="en-US" sz="9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endParaRPr>
            </a:p>
            <a:p>
              <a:pPr marL="0" marR="0" algn="ctr">
                <a:lnSpc>
                  <a:spcPct val="115000"/>
                </a:lnSpc>
                <a:buNone/>
              </a:pPr>
              <a:r>
                <a:rPr lang="en-US" sz="900" b="1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rPr>
                <a:t>Irrelevant titles excluded</a:t>
              </a:r>
              <a:endParaRPr lang="en-US" sz="1050" b="1" dirty="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0" marR="0" algn="ctr">
                <a:lnSpc>
                  <a:spcPct val="115000"/>
                </a:lnSpc>
                <a:buNone/>
              </a:pPr>
              <a:r>
                <a:rPr lang="en-US" sz="900" b="1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rPr>
                <a:t>(n = 01)</a:t>
              </a:r>
              <a:endParaRPr lang="en-US" sz="1050" b="1" dirty="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0" marR="0" algn="ctr">
                <a:lnSpc>
                  <a:spcPct val="115000"/>
                </a:lnSpc>
                <a:buNone/>
              </a:pPr>
              <a:r>
                <a:rPr lang="en-US" sz="1000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rPr>
                <a:t> </a:t>
              </a:r>
              <a:endParaRPr lang="en-US" sz="1100" dirty="0">
                <a:effectLst/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D71E80B-136C-C002-3EE4-33EB4E027075}"/>
                </a:ext>
              </a:extLst>
            </p:cNvPr>
            <p:cNvGrpSpPr/>
            <p:nvPr/>
          </p:nvGrpSpPr>
          <p:grpSpPr>
            <a:xfrm>
              <a:off x="0" y="0"/>
              <a:ext cx="6405188" cy="6966793"/>
              <a:chOff x="0" y="0"/>
              <a:chExt cx="6405188" cy="6966793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C9B3D32-4E4C-348F-54AF-C41974347E90}"/>
                  </a:ext>
                </a:extLst>
              </p:cNvPr>
              <p:cNvGrpSpPr/>
              <p:nvPr/>
            </p:nvGrpSpPr>
            <p:grpSpPr>
              <a:xfrm>
                <a:off x="0" y="78828"/>
                <a:ext cx="6282699" cy="6887965"/>
                <a:chOff x="0" y="0"/>
                <a:chExt cx="4221513" cy="3990314"/>
              </a:xfrm>
            </p:grpSpPr>
            <p:sp>
              <p:nvSpPr>
                <p:cNvPr id="17" name="Shape 459">
                  <a:extLst>
                    <a:ext uri="{FF2B5EF4-FFF2-40B4-BE49-F238E27FC236}">
                      <a16:creationId xmlns:a16="http://schemas.microsoft.com/office/drawing/2014/main" id="{7D6CEC6A-179A-251D-3CFF-2EF818B704FE}"/>
                    </a:ext>
                  </a:extLst>
                </p:cNvPr>
                <p:cNvSpPr/>
                <p:nvPr/>
              </p:nvSpPr>
              <p:spPr>
                <a:xfrm>
                  <a:off x="0" y="967514"/>
                  <a:ext cx="191606" cy="95375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2126" h="886739">
                      <a:moveTo>
                        <a:pt x="0" y="854723"/>
                      </a:moveTo>
                      <a:cubicBezTo>
                        <a:pt x="0" y="872401"/>
                        <a:pt x="14338" y="886739"/>
                        <a:pt x="32017" y="886739"/>
                      </a:cubicBezTo>
                      <a:lnTo>
                        <a:pt x="160096" y="886739"/>
                      </a:lnTo>
                      <a:cubicBezTo>
                        <a:pt x="177787" y="886739"/>
                        <a:pt x="192126" y="872401"/>
                        <a:pt x="192126" y="854723"/>
                      </a:cubicBezTo>
                      <a:lnTo>
                        <a:pt x="192126" y="32029"/>
                      </a:lnTo>
                      <a:cubicBezTo>
                        <a:pt x="192126" y="14338"/>
                        <a:pt x="177787" y="0"/>
                        <a:pt x="160096" y="0"/>
                      </a:cubicBezTo>
                      <a:lnTo>
                        <a:pt x="32017" y="0"/>
                      </a:lnTo>
                      <a:cubicBezTo>
                        <a:pt x="14338" y="0"/>
                        <a:pt x="0" y="14338"/>
                        <a:pt x="0" y="32029"/>
                      </a:cubicBezTo>
                      <a:lnTo>
                        <a:pt x="0" y="854723"/>
                      </a:lnTo>
                      <a:close/>
                    </a:path>
                  </a:pathLst>
                </a:custGeom>
                <a:ln w="6160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EAA7F6C-7C81-3A28-43AF-B24609B8F1DC}"/>
                    </a:ext>
                  </a:extLst>
                </p:cNvPr>
                <p:cNvSpPr/>
                <p:nvPr/>
              </p:nvSpPr>
              <p:spPr>
                <a:xfrm rot="16200001">
                  <a:off x="-205720" y="1259388"/>
                  <a:ext cx="627528" cy="167124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0" tIns="0" rIns="0" bIns="0" rtlCol="0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buNone/>
                  </a:pPr>
                  <a:r>
                    <a:rPr lang="en-US" sz="1200" b="1">
                      <a:solidFill>
                        <a:srgbClr val="C00000"/>
                      </a:solidFill>
                      <a:effectLst/>
                      <a:latin typeface="Times New Roman" panose="02020603050405020304" pitchFamily="18" charset="0"/>
                      <a:ea typeface="Arial" panose="020B0604020202020204" pitchFamily="34" charset="0"/>
                    </a:rPr>
                    <a:t>Screening</a:t>
                  </a:r>
                  <a:endParaRPr lang="en-US" sz="1100">
                    <a:effectLst/>
                    <a:latin typeface="Arial" panose="020B0604020202020204" pitchFamily="34" charset="0"/>
                    <a:ea typeface="Arial" panose="020B0604020202020204" pitchFamily="34" charset="0"/>
                  </a:endParaRPr>
                </a:p>
              </p:txBody>
            </p:sp>
            <p:sp>
              <p:nvSpPr>
                <p:cNvPr id="19" name="Shape 462">
                  <a:extLst>
                    <a:ext uri="{FF2B5EF4-FFF2-40B4-BE49-F238E27FC236}">
                      <a16:creationId xmlns:a16="http://schemas.microsoft.com/office/drawing/2014/main" id="{5B6EE4D7-7471-ECDA-FE1B-4332FCA2A014}"/>
                    </a:ext>
                  </a:extLst>
                </p:cNvPr>
                <p:cNvSpPr/>
                <p:nvPr/>
              </p:nvSpPr>
              <p:spPr>
                <a:xfrm>
                  <a:off x="0" y="3103587"/>
                  <a:ext cx="192126" cy="88672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2126" h="886727">
                      <a:moveTo>
                        <a:pt x="0" y="854723"/>
                      </a:moveTo>
                      <a:cubicBezTo>
                        <a:pt x="0" y="872401"/>
                        <a:pt x="14338" y="886727"/>
                        <a:pt x="32017" y="886727"/>
                      </a:cubicBezTo>
                      <a:lnTo>
                        <a:pt x="160096" y="886727"/>
                      </a:lnTo>
                      <a:cubicBezTo>
                        <a:pt x="177787" y="886727"/>
                        <a:pt x="192126" y="872401"/>
                        <a:pt x="192126" y="854723"/>
                      </a:cubicBezTo>
                      <a:lnTo>
                        <a:pt x="192126" y="32017"/>
                      </a:lnTo>
                      <a:cubicBezTo>
                        <a:pt x="192126" y="14338"/>
                        <a:pt x="177787" y="0"/>
                        <a:pt x="160096" y="0"/>
                      </a:cubicBezTo>
                      <a:lnTo>
                        <a:pt x="32017" y="0"/>
                      </a:lnTo>
                      <a:cubicBezTo>
                        <a:pt x="14338" y="0"/>
                        <a:pt x="0" y="14338"/>
                        <a:pt x="0" y="32017"/>
                      </a:cubicBezTo>
                      <a:lnTo>
                        <a:pt x="0" y="854723"/>
                      </a:lnTo>
                      <a:close/>
                    </a:path>
                  </a:pathLst>
                </a:custGeom>
                <a:ln w="6160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7BDA5D4-D5A6-21F9-BF71-0600D9D7EFFE}"/>
                    </a:ext>
                  </a:extLst>
                </p:cNvPr>
                <p:cNvSpPr/>
                <p:nvPr/>
              </p:nvSpPr>
              <p:spPr>
                <a:xfrm rot="16200001">
                  <a:off x="-226079" y="3549014"/>
                  <a:ext cx="631082" cy="100501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0" tIns="0" rIns="0" bIns="0" rtlCol="0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buNone/>
                  </a:pPr>
                  <a:r>
                    <a:rPr lang="en-US" sz="1200" b="1" dirty="0">
                      <a:solidFill>
                        <a:srgbClr val="C00000"/>
                      </a:solidFill>
                      <a:effectLst/>
                      <a:latin typeface="Arial" panose="020B0604020202020204" pitchFamily="34" charset="0"/>
                      <a:ea typeface="Arial" panose="020B0604020202020204" pitchFamily="34" charset="0"/>
                      <a:cs typeface="Calibri" panose="020F0502020204030204" pitchFamily="34" charset="0"/>
                    </a:rPr>
                    <a:t>Included</a:t>
                  </a:r>
                  <a:endParaRPr lang="en-US" sz="1100" dirty="0">
                    <a:effectLst/>
                    <a:latin typeface="Arial" panose="020B0604020202020204" pitchFamily="34" charset="0"/>
                    <a:ea typeface="Arial" panose="020B0604020202020204" pitchFamily="34" charset="0"/>
                  </a:endParaRPr>
                </a:p>
              </p:txBody>
            </p:sp>
            <p:sp>
              <p:nvSpPr>
                <p:cNvPr id="21" name="Shape 464">
                  <a:extLst>
                    <a:ext uri="{FF2B5EF4-FFF2-40B4-BE49-F238E27FC236}">
                      <a16:creationId xmlns:a16="http://schemas.microsoft.com/office/drawing/2014/main" id="{9CA5EC94-1EB8-AB8C-4114-D3C60BCC61F9}"/>
                    </a:ext>
                  </a:extLst>
                </p:cNvPr>
                <p:cNvSpPr/>
                <p:nvPr/>
              </p:nvSpPr>
              <p:spPr>
                <a:xfrm>
                  <a:off x="0" y="2069057"/>
                  <a:ext cx="192126" cy="88673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2126" h="886739">
                      <a:moveTo>
                        <a:pt x="0" y="854723"/>
                      </a:moveTo>
                      <a:cubicBezTo>
                        <a:pt x="0" y="872401"/>
                        <a:pt x="14338" y="886739"/>
                        <a:pt x="32017" y="886739"/>
                      </a:cubicBezTo>
                      <a:lnTo>
                        <a:pt x="160096" y="886739"/>
                      </a:lnTo>
                      <a:cubicBezTo>
                        <a:pt x="177787" y="886739"/>
                        <a:pt x="192126" y="872401"/>
                        <a:pt x="192126" y="854723"/>
                      </a:cubicBezTo>
                      <a:lnTo>
                        <a:pt x="192126" y="32017"/>
                      </a:lnTo>
                      <a:cubicBezTo>
                        <a:pt x="192126" y="14338"/>
                        <a:pt x="177787" y="0"/>
                        <a:pt x="160096" y="0"/>
                      </a:cubicBezTo>
                      <a:lnTo>
                        <a:pt x="32017" y="0"/>
                      </a:lnTo>
                      <a:cubicBezTo>
                        <a:pt x="14338" y="0"/>
                        <a:pt x="0" y="14338"/>
                        <a:pt x="0" y="32017"/>
                      </a:cubicBezTo>
                      <a:lnTo>
                        <a:pt x="0" y="854723"/>
                      </a:lnTo>
                      <a:close/>
                    </a:path>
                  </a:pathLst>
                </a:custGeom>
                <a:ln w="6160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D6C037E-7674-1141-7A48-80D21EF34D54}"/>
                    </a:ext>
                  </a:extLst>
                </p:cNvPr>
                <p:cNvSpPr/>
                <p:nvPr/>
              </p:nvSpPr>
              <p:spPr>
                <a:xfrm rot="16200001">
                  <a:off x="-234777" y="2430886"/>
                  <a:ext cx="700372" cy="15239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0" tIns="0" rIns="0" bIns="0" rtlCol="0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buNone/>
                  </a:pPr>
                  <a:r>
                    <a:rPr lang="en-US" sz="1050" b="1" dirty="0">
                      <a:solidFill>
                        <a:srgbClr val="C00000"/>
                      </a:solidFill>
                      <a:effectLst/>
                      <a:latin typeface="Arial" panose="020B0604020202020204" pitchFamily="34" charset="0"/>
                      <a:ea typeface="Arial" panose="020B0604020202020204" pitchFamily="34" charset="0"/>
                      <a:cs typeface="Calibri" panose="020F0502020204030204" pitchFamily="34" charset="0"/>
                    </a:rPr>
                    <a:t>Eligibility</a:t>
                  </a:r>
                  <a:endParaRPr lang="en-US" sz="1000" dirty="0">
                    <a:effectLst/>
                    <a:latin typeface="Arial" panose="020B0604020202020204" pitchFamily="34" charset="0"/>
                    <a:ea typeface="Arial" panose="020B0604020202020204" pitchFamily="34" charset="0"/>
                  </a:endParaRPr>
                </a:p>
              </p:txBody>
            </p:sp>
            <p:sp>
              <p:nvSpPr>
                <p:cNvPr id="23" name="Shape 467">
                  <a:extLst>
                    <a:ext uri="{FF2B5EF4-FFF2-40B4-BE49-F238E27FC236}">
                      <a16:creationId xmlns:a16="http://schemas.microsoft.com/office/drawing/2014/main" id="{24A1AFCA-908F-4513-7FD9-BE23D5A68CD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2126" cy="88673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92126" h="886739">
                      <a:moveTo>
                        <a:pt x="0" y="854723"/>
                      </a:moveTo>
                      <a:cubicBezTo>
                        <a:pt x="0" y="872414"/>
                        <a:pt x="14338" y="886739"/>
                        <a:pt x="32017" y="886739"/>
                      </a:cubicBezTo>
                      <a:lnTo>
                        <a:pt x="160096" y="886739"/>
                      </a:lnTo>
                      <a:cubicBezTo>
                        <a:pt x="177787" y="886739"/>
                        <a:pt x="192126" y="872414"/>
                        <a:pt x="192126" y="854723"/>
                      </a:cubicBezTo>
                      <a:lnTo>
                        <a:pt x="192126" y="32029"/>
                      </a:lnTo>
                      <a:cubicBezTo>
                        <a:pt x="192126" y="14338"/>
                        <a:pt x="177787" y="0"/>
                        <a:pt x="160096" y="0"/>
                      </a:cubicBezTo>
                      <a:lnTo>
                        <a:pt x="32017" y="0"/>
                      </a:lnTo>
                      <a:cubicBezTo>
                        <a:pt x="14338" y="0"/>
                        <a:pt x="0" y="14338"/>
                        <a:pt x="0" y="32029"/>
                      </a:cubicBezTo>
                      <a:lnTo>
                        <a:pt x="0" y="854723"/>
                      </a:lnTo>
                      <a:close/>
                    </a:path>
                  </a:pathLst>
                </a:custGeom>
                <a:ln w="6160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E5A3D58-53F2-EB08-A4D5-6D4151C3EF97}"/>
                    </a:ext>
                  </a:extLst>
                </p:cNvPr>
                <p:cNvSpPr/>
                <p:nvPr/>
              </p:nvSpPr>
              <p:spPr>
                <a:xfrm rot="16200001">
                  <a:off x="-301660" y="398342"/>
                  <a:ext cx="776747" cy="95004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0" tIns="0" rIns="0" bIns="0" rtlCol="0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buNone/>
                  </a:pPr>
                  <a:r>
                    <a:rPr lang="en-US" sz="1000" b="1" dirty="0">
                      <a:solidFill>
                        <a:srgbClr val="C00000"/>
                      </a:solidFill>
                      <a:effectLst/>
                      <a:latin typeface="Arial" panose="020B0604020202020204" pitchFamily="34" charset="0"/>
                      <a:ea typeface="Arial" panose="020B0604020202020204" pitchFamily="34" charset="0"/>
                      <a:cs typeface="Calibri" panose="020F0502020204030204" pitchFamily="34" charset="0"/>
                    </a:rPr>
                    <a:t>Identification</a:t>
                  </a:r>
                  <a:endParaRPr lang="en-US" sz="900" dirty="0">
                    <a:effectLst/>
                    <a:latin typeface="Arial" panose="020B0604020202020204" pitchFamily="34" charset="0"/>
                    <a:ea typeface="Arial" panose="020B0604020202020204" pitchFamily="34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6EC97DE-C205-8B0B-037A-5E9F6DF6A486}"/>
                    </a:ext>
                  </a:extLst>
                </p:cNvPr>
                <p:cNvSpPr/>
                <p:nvPr/>
              </p:nvSpPr>
              <p:spPr>
                <a:xfrm flipV="1">
                  <a:off x="2983418" y="3578384"/>
                  <a:ext cx="1238095" cy="4606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0" tIns="0" rIns="0" bIns="0" rtlCol="0">
                  <a:noAutofit/>
                </a:bodyPr>
                <a:lstStyle/>
                <a:p>
                  <a:pPr marL="0" marR="0">
                    <a:lnSpc>
                      <a:spcPct val="115000"/>
                    </a:lnSpc>
                    <a:buNone/>
                  </a:pPr>
                  <a:r>
                    <a:rPr lang="en-US" sz="1100">
                      <a:effectLst/>
                      <a:latin typeface="Arial" panose="020B0604020202020204" pitchFamily="34" charset="0"/>
                      <a:ea typeface="Arial" panose="020B0604020202020204" pitchFamily="34" charset="0"/>
                    </a:rPr>
                    <a:t> </a:t>
                  </a:r>
                </a:p>
              </p:txBody>
            </p:sp>
            <p:sp>
              <p:nvSpPr>
                <p:cNvPr id="26" name="Shape 501">
                  <a:extLst>
                    <a:ext uri="{FF2B5EF4-FFF2-40B4-BE49-F238E27FC236}">
                      <a16:creationId xmlns:a16="http://schemas.microsoft.com/office/drawing/2014/main" id="{4838365C-2306-DD17-5E9D-87B3DEB49506}"/>
                    </a:ext>
                  </a:extLst>
                </p:cNvPr>
                <p:cNvSpPr/>
                <p:nvPr/>
              </p:nvSpPr>
              <p:spPr>
                <a:xfrm>
                  <a:off x="2069052" y="1256218"/>
                  <a:ext cx="0" cy="254521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254521">
                      <a:moveTo>
                        <a:pt x="0" y="0"/>
                      </a:moveTo>
                      <a:lnTo>
                        <a:pt x="0" y="254521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Shape 502">
                  <a:extLst>
                    <a:ext uri="{FF2B5EF4-FFF2-40B4-BE49-F238E27FC236}">
                      <a16:creationId xmlns:a16="http://schemas.microsoft.com/office/drawing/2014/main" id="{1DC742AB-4E42-7CC5-65F8-FD6BE03B54D0}"/>
                    </a:ext>
                  </a:extLst>
                </p:cNvPr>
                <p:cNvSpPr/>
                <p:nvPr/>
              </p:nvSpPr>
              <p:spPr>
                <a:xfrm>
                  <a:off x="2044427" y="1502523"/>
                  <a:ext cx="49250" cy="492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50" h="49276">
                      <a:moveTo>
                        <a:pt x="0" y="0"/>
                      </a:moveTo>
                      <a:lnTo>
                        <a:pt x="49250" y="0"/>
                      </a:lnTo>
                      <a:lnTo>
                        <a:pt x="24625" y="492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Shape 503">
                  <a:extLst>
                    <a:ext uri="{FF2B5EF4-FFF2-40B4-BE49-F238E27FC236}">
                      <a16:creationId xmlns:a16="http://schemas.microsoft.com/office/drawing/2014/main" id="{2CAAF9B0-B267-33D3-63B2-C527C31C5385}"/>
                    </a:ext>
                  </a:extLst>
                </p:cNvPr>
                <p:cNvSpPr/>
                <p:nvPr/>
              </p:nvSpPr>
              <p:spPr>
                <a:xfrm>
                  <a:off x="2069052" y="1989009"/>
                  <a:ext cx="0" cy="37152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71526">
                      <a:moveTo>
                        <a:pt x="0" y="0"/>
                      </a:moveTo>
                      <a:lnTo>
                        <a:pt x="0" y="371526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Shape 504">
                  <a:extLst>
                    <a:ext uri="{FF2B5EF4-FFF2-40B4-BE49-F238E27FC236}">
                      <a16:creationId xmlns:a16="http://schemas.microsoft.com/office/drawing/2014/main" id="{CC9C23A6-E0FE-ACD9-273A-A21FE1719A39}"/>
                    </a:ext>
                  </a:extLst>
                </p:cNvPr>
                <p:cNvSpPr/>
                <p:nvPr/>
              </p:nvSpPr>
              <p:spPr>
                <a:xfrm>
                  <a:off x="2044427" y="2352318"/>
                  <a:ext cx="49250" cy="4926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50" h="49263">
                      <a:moveTo>
                        <a:pt x="0" y="0"/>
                      </a:moveTo>
                      <a:lnTo>
                        <a:pt x="49250" y="0"/>
                      </a:lnTo>
                      <a:lnTo>
                        <a:pt x="24625" y="492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Shape 505">
                  <a:extLst>
                    <a:ext uri="{FF2B5EF4-FFF2-40B4-BE49-F238E27FC236}">
                      <a16:creationId xmlns:a16="http://schemas.microsoft.com/office/drawing/2014/main" id="{AD4579C9-5FC8-1ACC-EB9F-C71099F00F40}"/>
                    </a:ext>
                  </a:extLst>
                </p:cNvPr>
                <p:cNvSpPr/>
                <p:nvPr/>
              </p:nvSpPr>
              <p:spPr>
                <a:xfrm>
                  <a:off x="2081371" y="2193453"/>
                  <a:ext cx="562420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62420">
                      <a:moveTo>
                        <a:pt x="0" y="0"/>
                      </a:moveTo>
                      <a:lnTo>
                        <a:pt x="562420" y="0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Shape 506">
                  <a:extLst>
                    <a:ext uri="{FF2B5EF4-FFF2-40B4-BE49-F238E27FC236}">
                      <a16:creationId xmlns:a16="http://schemas.microsoft.com/office/drawing/2014/main" id="{28DFCFB2-725F-C454-FE41-8D3195516FF9}"/>
                    </a:ext>
                  </a:extLst>
                </p:cNvPr>
                <p:cNvSpPr/>
                <p:nvPr/>
              </p:nvSpPr>
              <p:spPr>
                <a:xfrm>
                  <a:off x="2635574" y="2168803"/>
                  <a:ext cx="49263" cy="4927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63" h="49276">
                      <a:moveTo>
                        <a:pt x="0" y="0"/>
                      </a:moveTo>
                      <a:lnTo>
                        <a:pt x="49263" y="24638"/>
                      </a:lnTo>
                      <a:lnTo>
                        <a:pt x="0" y="492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Shape 507">
                  <a:extLst>
                    <a:ext uri="{FF2B5EF4-FFF2-40B4-BE49-F238E27FC236}">
                      <a16:creationId xmlns:a16="http://schemas.microsoft.com/office/drawing/2014/main" id="{E73EDA0B-B1CD-0013-53CF-B8B12154A6AF}"/>
                    </a:ext>
                  </a:extLst>
                </p:cNvPr>
                <p:cNvSpPr/>
                <p:nvPr/>
              </p:nvSpPr>
              <p:spPr>
                <a:xfrm>
                  <a:off x="2025948" y="3214419"/>
                  <a:ext cx="593205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93205">
                      <a:moveTo>
                        <a:pt x="0" y="0"/>
                      </a:moveTo>
                      <a:lnTo>
                        <a:pt x="593205" y="0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Shape 508">
                  <a:extLst>
                    <a:ext uri="{FF2B5EF4-FFF2-40B4-BE49-F238E27FC236}">
                      <a16:creationId xmlns:a16="http://schemas.microsoft.com/office/drawing/2014/main" id="{C613DECE-968F-9E9F-107A-FC25C2EE993E}"/>
                    </a:ext>
                  </a:extLst>
                </p:cNvPr>
                <p:cNvSpPr/>
                <p:nvPr/>
              </p:nvSpPr>
              <p:spPr>
                <a:xfrm>
                  <a:off x="2610949" y="3189794"/>
                  <a:ext cx="49263" cy="4926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63" h="49263">
                      <a:moveTo>
                        <a:pt x="0" y="0"/>
                      </a:moveTo>
                      <a:lnTo>
                        <a:pt x="49263" y="24625"/>
                      </a:lnTo>
                      <a:lnTo>
                        <a:pt x="0" y="492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Shape 509">
                  <a:extLst>
                    <a:ext uri="{FF2B5EF4-FFF2-40B4-BE49-F238E27FC236}">
                      <a16:creationId xmlns:a16="http://schemas.microsoft.com/office/drawing/2014/main" id="{EF9732EE-EC1F-1914-8990-D15798D60754}"/>
                    </a:ext>
                  </a:extLst>
                </p:cNvPr>
                <p:cNvSpPr/>
                <p:nvPr/>
              </p:nvSpPr>
              <p:spPr>
                <a:xfrm>
                  <a:off x="2025948" y="2857270"/>
                  <a:ext cx="0" cy="61168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611683">
                      <a:moveTo>
                        <a:pt x="0" y="0"/>
                      </a:moveTo>
                      <a:lnTo>
                        <a:pt x="0" y="611683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Shape 510">
                  <a:extLst>
                    <a:ext uri="{FF2B5EF4-FFF2-40B4-BE49-F238E27FC236}">
                      <a16:creationId xmlns:a16="http://schemas.microsoft.com/office/drawing/2014/main" id="{37B58DAD-EC86-9C01-1C1E-710BF77EC4BF}"/>
                    </a:ext>
                  </a:extLst>
                </p:cNvPr>
                <p:cNvSpPr/>
                <p:nvPr/>
              </p:nvSpPr>
              <p:spPr>
                <a:xfrm>
                  <a:off x="2001323" y="3460749"/>
                  <a:ext cx="49250" cy="4926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50" h="49263">
                      <a:moveTo>
                        <a:pt x="0" y="0"/>
                      </a:moveTo>
                      <a:lnTo>
                        <a:pt x="49250" y="0"/>
                      </a:lnTo>
                      <a:lnTo>
                        <a:pt x="24625" y="492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Shape 523">
                  <a:extLst>
                    <a:ext uri="{FF2B5EF4-FFF2-40B4-BE49-F238E27FC236}">
                      <a16:creationId xmlns:a16="http://schemas.microsoft.com/office/drawing/2014/main" id="{60E9780D-ECA1-AD8E-6CDD-50BC346E2416}"/>
                    </a:ext>
                  </a:extLst>
                </p:cNvPr>
                <p:cNvSpPr/>
                <p:nvPr/>
              </p:nvSpPr>
              <p:spPr>
                <a:xfrm>
                  <a:off x="2081371" y="1422475"/>
                  <a:ext cx="537782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37782">
                      <a:moveTo>
                        <a:pt x="0" y="0"/>
                      </a:moveTo>
                      <a:lnTo>
                        <a:pt x="537782" y="0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Shape 524">
                  <a:extLst>
                    <a:ext uri="{FF2B5EF4-FFF2-40B4-BE49-F238E27FC236}">
                      <a16:creationId xmlns:a16="http://schemas.microsoft.com/office/drawing/2014/main" id="{41F6C041-D0C3-C17A-0CF7-43ED49DD9A32}"/>
                    </a:ext>
                  </a:extLst>
                </p:cNvPr>
                <p:cNvSpPr/>
                <p:nvPr/>
              </p:nvSpPr>
              <p:spPr>
                <a:xfrm>
                  <a:off x="2610949" y="1397849"/>
                  <a:ext cx="49263" cy="4926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63" h="49263">
                      <a:moveTo>
                        <a:pt x="0" y="0"/>
                      </a:moveTo>
                      <a:lnTo>
                        <a:pt x="49263" y="24625"/>
                      </a:lnTo>
                      <a:lnTo>
                        <a:pt x="0" y="492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Shape 525">
                  <a:extLst>
                    <a:ext uri="{FF2B5EF4-FFF2-40B4-BE49-F238E27FC236}">
                      <a16:creationId xmlns:a16="http://schemas.microsoft.com/office/drawing/2014/main" id="{EC5FC0DC-6CE2-D934-F1EC-EB194344A6FB}"/>
                    </a:ext>
                  </a:extLst>
                </p:cNvPr>
                <p:cNvSpPr/>
                <p:nvPr/>
              </p:nvSpPr>
              <p:spPr>
                <a:xfrm>
                  <a:off x="2025948" y="463900"/>
                  <a:ext cx="0" cy="35100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h="351003">
                      <a:moveTo>
                        <a:pt x="0" y="0"/>
                      </a:moveTo>
                      <a:lnTo>
                        <a:pt x="0" y="351003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Shape 526">
                  <a:extLst>
                    <a:ext uri="{FF2B5EF4-FFF2-40B4-BE49-F238E27FC236}">
                      <a16:creationId xmlns:a16="http://schemas.microsoft.com/office/drawing/2014/main" id="{16066007-2238-EA69-B10E-2739D205B635}"/>
                    </a:ext>
                  </a:extLst>
                </p:cNvPr>
                <p:cNvSpPr/>
                <p:nvPr/>
              </p:nvSpPr>
              <p:spPr>
                <a:xfrm>
                  <a:off x="2001323" y="806688"/>
                  <a:ext cx="49250" cy="4926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50" h="49263">
                      <a:moveTo>
                        <a:pt x="0" y="0"/>
                      </a:moveTo>
                      <a:lnTo>
                        <a:pt x="49250" y="0"/>
                      </a:lnTo>
                      <a:lnTo>
                        <a:pt x="24625" y="492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Shape 527">
                  <a:extLst>
                    <a:ext uri="{FF2B5EF4-FFF2-40B4-BE49-F238E27FC236}">
                      <a16:creationId xmlns:a16="http://schemas.microsoft.com/office/drawing/2014/main" id="{1F2C0C8E-F0B0-024A-EF42-511801A24B51}"/>
                    </a:ext>
                  </a:extLst>
                </p:cNvPr>
                <p:cNvSpPr/>
                <p:nvPr/>
              </p:nvSpPr>
              <p:spPr>
                <a:xfrm>
                  <a:off x="2025948" y="665468"/>
                  <a:ext cx="426949" cy="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26949">
                      <a:moveTo>
                        <a:pt x="0" y="0"/>
                      </a:moveTo>
                      <a:lnTo>
                        <a:pt x="426949" y="0"/>
                      </a:lnTo>
                    </a:path>
                  </a:pathLst>
                </a:custGeom>
                <a:ln w="8204" cap="rnd">
                  <a:round/>
                </a:ln>
              </p:spPr>
              <p:style>
                <a:lnRef idx="1">
                  <a:srgbClr val="181717"/>
                </a:lnRef>
                <a:fillRef idx="0">
                  <a:srgbClr val="000000">
                    <a:alpha val="0"/>
                  </a:srgbClr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Shape 528">
                  <a:extLst>
                    <a:ext uri="{FF2B5EF4-FFF2-40B4-BE49-F238E27FC236}">
                      <a16:creationId xmlns:a16="http://schemas.microsoft.com/office/drawing/2014/main" id="{0E6BA317-BE4F-7726-D65A-B26688474217}"/>
                    </a:ext>
                  </a:extLst>
                </p:cNvPr>
                <p:cNvSpPr/>
                <p:nvPr/>
              </p:nvSpPr>
              <p:spPr>
                <a:xfrm>
                  <a:off x="2444680" y="640832"/>
                  <a:ext cx="49263" cy="4926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9263" h="49263">
                      <a:moveTo>
                        <a:pt x="0" y="0"/>
                      </a:moveTo>
                      <a:lnTo>
                        <a:pt x="49263" y="24638"/>
                      </a:lnTo>
                      <a:lnTo>
                        <a:pt x="0" y="492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0" cap="rnd">
                  <a:round/>
                </a:ln>
              </p:spPr>
              <p:style>
                <a:lnRef idx="0">
                  <a:srgbClr val="000000">
                    <a:alpha val="0"/>
                  </a:srgbClr>
                </a:lnRef>
                <a:fillRef idx="1">
                  <a:srgbClr val="181717"/>
                </a:fillRef>
                <a:effectRef idx="0">
                  <a:scrgbClr r="0" g="0" b="0"/>
                </a:effectRef>
                <a:fontRef idx="none"/>
              </p:style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1D84895-38D3-9872-C6EF-234D13C09D6F}"/>
                  </a:ext>
                </a:extLst>
              </p:cNvPr>
              <p:cNvSpPr/>
              <p:nvPr/>
            </p:nvSpPr>
            <p:spPr>
              <a:xfrm>
                <a:off x="1434662" y="0"/>
                <a:ext cx="2769989" cy="738508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8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Articles identified after applying the key phrases using Boolean operators in all the included databases</a:t>
                </a:r>
                <a:endParaRPr lang="en-US" sz="10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800" b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(n=100)</a:t>
                </a:r>
                <a:endParaRPr lang="en-US" sz="10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2FC4349-871D-C1B7-F12F-BF59BD82837E}"/>
                  </a:ext>
                </a:extLst>
              </p:cNvPr>
              <p:cNvSpPr/>
              <p:nvPr/>
            </p:nvSpPr>
            <p:spPr>
              <a:xfrm>
                <a:off x="3720662" y="835572"/>
                <a:ext cx="2488510" cy="6832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Articles discarded as duplicates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88)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1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51E9CE-5B70-FCF4-464A-F6AF7D3DF15F}"/>
                  </a:ext>
                </a:extLst>
              </p:cNvPr>
              <p:cNvSpPr/>
              <p:nvPr/>
            </p:nvSpPr>
            <p:spPr>
              <a:xfrm>
                <a:off x="1087821" y="1718441"/>
                <a:ext cx="2980938" cy="50863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endParaRPr lang="en-US" sz="800" b="1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8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Articles screened by title for relevance </a:t>
                </a:r>
                <a:endParaRPr lang="en-US" sz="100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8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12)</a:t>
                </a:r>
                <a:endParaRPr lang="en-US" sz="100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1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AA8CF30-0645-29B4-7FB2-E1346355D3EF}"/>
                  </a:ext>
                </a:extLst>
              </p:cNvPr>
              <p:cNvSpPr/>
              <p:nvPr/>
            </p:nvSpPr>
            <p:spPr>
              <a:xfrm>
                <a:off x="1182414" y="2900855"/>
                <a:ext cx="2917052" cy="50863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endParaRPr lang="en-US" sz="900" b="1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Articles screened by abstract for relevance 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11)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1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7E5E2D8-5183-C320-5725-4BC035501036}"/>
                  </a:ext>
                </a:extLst>
              </p:cNvPr>
              <p:cNvSpPr/>
              <p:nvPr/>
            </p:nvSpPr>
            <p:spPr>
              <a:xfrm>
                <a:off x="4067504" y="3531476"/>
                <a:ext cx="2337684" cy="68621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endParaRPr lang="en-US" sz="900" b="1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Articles excluded for irrelevance to study aim 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01)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3E3FCC0-31BC-47BF-22BA-4AAC50C87380}"/>
                  </a:ext>
                </a:extLst>
              </p:cNvPr>
              <p:cNvSpPr/>
              <p:nvPr/>
            </p:nvSpPr>
            <p:spPr>
              <a:xfrm>
                <a:off x="1072055" y="4303986"/>
                <a:ext cx="3171494" cy="50863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endParaRPr lang="en-US" sz="1000" b="1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Full-text articles assessed for eligibility criteria</a:t>
                </a:r>
                <a:endParaRPr lang="en-US" sz="110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10)</a:t>
                </a:r>
                <a:endParaRPr lang="en-US" sz="110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10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57AC66C-72D8-DCD2-341C-47C7BEB3B029}"/>
                  </a:ext>
                </a:extLst>
              </p:cNvPr>
              <p:cNvSpPr/>
              <p:nvPr/>
            </p:nvSpPr>
            <p:spPr>
              <a:xfrm>
                <a:off x="4035973" y="5010965"/>
                <a:ext cx="2154555" cy="97734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Articles excluded for not meeting eligibility 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9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05)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1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D28DCC7-5C98-E077-F898-91671C6129C1}"/>
                  </a:ext>
                </a:extLst>
              </p:cNvPr>
              <p:cNvSpPr/>
              <p:nvPr/>
            </p:nvSpPr>
            <p:spPr>
              <a:xfrm>
                <a:off x="1135117" y="6258910"/>
                <a:ext cx="3171494" cy="70788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endParaRPr lang="en-US" sz="1100" b="1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1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Full text articles included for study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1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07)</a:t>
                </a:r>
                <a:endParaRPr lang="en-US" sz="105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2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1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9720A87-D9F7-A56E-A32C-8A246A601BAC}"/>
                  </a:ext>
                </a:extLst>
              </p:cNvPr>
              <p:cNvCxnSpPr/>
              <p:nvPr/>
            </p:nvCxnSpPr>
            <p:spPr>
              <a:xfrm>
                <a:off x="1781504" y="5864772"/>
                <a:ext cx="269792" cy="3495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1105C20-E611-E768-3048-3917D9706C8C}"/>
                  </a:ext>
                </a:extLst>
              </p:cNvPr>
              <p:cNvSpPr/>
              <p:nvPr/>
            </p:nvSpPr>
            <p:spPr>
              <a:xfrm>
                <a:off x="536028" y="5234152"/>
                <a:ext cx="2218055" cy="69800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buNone/>
                </a:pPr>
                <a:endParaRPr lang="en-US" sz="1000" dirty="0">
                  <a:effectLst/>
                  <a:latin typeface="Times New Roman" panose="02020603050405020304" pitchFamily="18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8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Articles retrieved from manual reference searching  </a:t>
                </a:r>
                <a:endParaRPr lang="en-US" sz="100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800" b="1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(n = 02)</a:t>
                </a:r>
                <a:endParaRPr lang="en-US" sz="1000" b="1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0" marR="0" algn="ctr">
                  <a:lnSpc>
                    <a:spcPct val="115000"/>
                  </a:lnSpc>
                  <a:buNone/>
                </a:pPr>
                <a:r>
                  <a:rPr lang="en-US" sz="1000" dirty="0">
                    <a:effectLst/>
                    <a:latin typeface="Times New Roman" panose="02020603050405020304" pitchFamily="18" charset="0"/>
                    <a:ea typeface="Arial" panose="020B0604020202020204" pitchFamily="34" charset="0"/>
                  </a:rPr>
                  <a:t> </a:t>
                </a:r>
                <a:endParaRPr lang="en-US" sz="1100" dirty="0">
                  <a:effectLst/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1741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38C71-B23C-A32F-8D1E-321B754E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A6E357A1-DB83-5FB9-D959-0B0FB6F05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1106" y="125455"/>
            <a:ext cx="319278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2"/>
                </a:solidFill>
              </a:rPr>
              <a:t>RESULTS 1</a:t>
            </a:r>
            <a:endParaRPr sz="2000" dirty="0">
              <a:solidFill>
                <a:schemeClr val="tx2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2E747A-84CC-FBB6-E168-C67005815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648956"/>
              </p:ext>
            </p:extLst>
          </p:nvPr>
        </p:nvGraphicFramePr>
        <p:xfrm>
          <a:off x="374401" y="503458"/>
          <a:ext cx="8223793" cy="4066610"/>
        </p:xfrm>
        <a:graphic>
          <a:graphicData uri="http://schemas.openxmlformats.org/drawingml/2006/table">
            <a:tbl>
              <a:tblPr firstRow="1" firstCol="1" bandRow="1">
                <a:tableStyleId>{B3471CA4-3704-4ED3-ADB2-1DB0AA67CE59}</a:tableStyleId>
              </a:tblPr>
              <a:tblGrid>
                <a:gridCol w="308391">
                  <a:extLst>
                    <a:ext uri="{9D8B030D-6E8A-4147-A177-3AD203B41FA5}">
                      <a16:colId xmlns:a16="http://schemas.microsoft.com/office/drawing/2014/main" val="668724093"/>
                    </a:ext>
                  </a:extLst>
                </a:gridCol>
                <a:gridCol w="962870">
                  <a:extLst>
                    <a:ext uri="{9D8B030D-6E8A-4147-A177-3AD203B41FA5}">
                      <a16:colId xmlns:a16="http://schemas.microsoft.com/office/drawing/2014/main" val="494535721"/>
                    </a:ext>
                  </a:extLst>
                </a:gridCol>
                <a:gridCol w="527694">
                  <a:extLst>
                    <a:ext uri="{9D8B030D-6E8A-4147-A177-3AD203B41FA5}">
                      <a16:colId xmlns:a16="http://schemas.microsoft.com/office/drawing/2014/main" val="2365362908"/>
                    </a:ext>
                  </a:extLst>
                </a:gridCol>
                <a:gridCol w="565385">
                  <a:extLst>
                    <a:ext uri="{9D8B030D-6E8A-4147-A177-3AD203B41FA5}">
                      <a16:colId xmlns:a16="http://schemas.microsoft.com/office/drawing/2014/main" val="174982020"/>
                    </a:ext>
                  </a:extLst>
                </a:gridCol>
                <a:gridCol w="761842">
                  <a:extLst>
                    <a:ext uri="{9D8B030D-6E8A-4147-A177-3AD203B41FA5}">
                      <a16:colId xmlns:a16="http://schemas.microsoft.com/office/drawing/2014/main" val="544014419"/>
                    </a:ext>
                  </a:extLst>
                </a:gridCol>
                <a:gridCol w="780118">
                  <a:extLst>
                    <a:ext uri="{9D8B030D-6E8A-4147-A177-3AD203B41FA5}">
                      <a16:colId xmlns:a16="http://schemas.microsoft.com/office/drawing/2014/main" val="2462403897"/>
                    </a:ext>
                  </a:extLst>
                </a:gridCol>
                <a:gridCol w="616785">
                  <a:extLst>
                    <a:ext uri="{9D8B030D-6E8A-4147-A177-3AD203B41FA5}">
                      <a16:colId xmlns:a16="http://schemas.microsoft.com/office/drawing/2014/main" val="2154553551"/>
                    </a:ext>
                  </a:extLst>
                </a:gridCol>
                <a:gridCol w="770981">
                  <a:extLst>
                    <a:ext uri="{9D8B030D-6E8A-4147-A177-3AD203B41FA5}">
                      <a16:colId xmlns:a16="http://schemas.microsoft.com/office/drawing/2014/main" val="2214080364"/>
                    </a:ext>
                  </a:extLst>
                </a:gridCol>
                <a:gridCol w="668184">
                  <a:extLst>
                    <a:ext uri="{9D8B030D-6E8A-4147-A177-3AD203B41FA5}">
                      <a16:colId xmlns:a16="http://schemas.microsoft.com/office/drawing/2014/main" val="638605040"/>
                    </a:ext>
                  </a:extLst>
                </a:gridCol>
                <a:gridCol w="770981">
                  <a:extLst>
                    <a:ext uri="{9D8B030D-6E8A-4147-A177-3AD203B41FA5}">
                      <a16:colId xmlns:a16="http://schemas.microsoft.com/office/drawing/2014/main" val="2139438477"/>
                    </a:ext>
                  </a:extLst>
                </a:gridCol>
                <a:gridCol w="668184">
                  <a:extLst>
                    <a:ext uri="{9D8B030D-6E8A-4147-A177-3AD203B41FA5}">
                      <a16:colId xmlns:a16="http://schemas.microsoft.com/office/drawing/2014/main" val="690027287"/>
                    </a:ext>
                  </a:extLst>
                </a:gridCol>
                <a:gridCol w="822378">
                  <a:extLst>
                    <a:ext uri="{9D8B030D-6E8A-4147-A177-3AD203B41FA5}">
                      <a16:colId xmlns:a16="http://schemas.microsoft.com/office/drawing/2014/main" val="476510112"/>
                    </a:ext>
                  </a:extLst>
                </a:gridCol>
              </a:tblGrid>
              <a:tr h="192995">
                <a:tc gridSpan="1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Table 4.2: Comparison of the diagnostic accuracy of artificial intelligence models and radiologists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727544"/>
                  </a:ext>
                </a:extLst>
              </a:tr>
              <a:tr h="80685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S/N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Study (Author, Year)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AUC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AUC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Sensitivity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Sensitivity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Specificity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Specificity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PPV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PPV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NPV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NPV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extLst>
                  <a:ext uri="{0D108BD9-81ED-4DB2-BD59-A6C34878D82A}">
                    <a16:rowId xmlns:a16="http://schemas.microsoft.com/office/drawing/2014/main" val="501326413"/>
                  </a:ext>
                </a:extLst>
              </a:tr>
              <a:tr h="60559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Rajpurkar et al., 2018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0.807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N/A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0.47(0.40-0.54)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0.84(0.78-0.89)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0.94(0.91-0.97)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0.72(0.65-0.77)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0.68(0.63-0.73)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0.84(0.79-0.89)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0.88(0.80-0.93)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0.71(0.65-0.77)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extLst>
                  <a:ext uri="{0D108BD9-81ED-4DB2-BD59-A6C34878D82A}">
                    <a16:rowId xmlns:a16="http://schemas.microsoft.com/office/drawing/2014/main" val="287435294"/>
                  </a:ext>
                </a:extLst>
              </a:tr>
              <a:tr h="80685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Ajmera et al., 2022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N/A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N/A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0.80 (0.75–0.85).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0.404(0.345-0.467)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0.997 (0.990-0.999)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0.999 (0.993–0.9998)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0.990 (0.964–0.997)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0.990 (0.946–0.998)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0.940 (0.921–0.954)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0.840 (0.815–0.862)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extLst>
                  <a:ext uri="{0D108BD9-81ED-4DB2-BD59-A6C34878D82A}">
                    <a16:rowId xmlns:a16="http://schemas.microsoft.com/office/drawing/2014/main" val="2428306248"/>
                  </a:ext>
                </a:extLst>
              </a:tr>
              <a:tr h="80685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Maduskar et al., 2013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0.91(0.86-0.95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0.94(0.89–0.97)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0.908 (0.843–0.948)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0.950 (0.895–0.977)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0.683 (0.530–0.804)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0.829 (0.687–0.915)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0.893 (0.826–0.937)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0.942 (0.885–0.972)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0.718 (0.562–0.835)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0.850 (0.709–0.929)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extLst>
                  <a:ext uri="{0D108BD9-81ED-4DB2-BD59-A6C34878D82A}">
                    <a16:rowId xmlns:a16="http://schemas.microsoft.com/office/drawing/2014/main" val="3768788135"/>
                  </a:ext>
                </a:extLst>
              </a:tr>
              <a:tr h="80685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Wu et al., 2020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0.865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N/A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0.714 (0.635–0.783)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0.721 (0.642–0.783)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0.980 (0.973–0.986)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0.973 (0.971–0.974)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0.730 (0.650–0.797)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0.682 (0.670–0.694)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0.979 (0.971–0.984)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0.979 (0.971–0.984)</a:t>
                      </a:r>
                      <a:endParaRPr lang="en-US" sz="1100" b="1" dirty="0">
                        <a:solidFill>
                          <a:schemeClr val="bg2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775" marR="56775" marT="0" marB="0"/>
                </a:tc>
                <a:extLst>
                  <a:ext uri="{0D108BD9-81ED-4DB2-BD59-A6C34878D82A}">
                    <a16:rowId xmlns:a16="http://schemas.microsoft.com/office/drawing/2014/main" val="1657856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073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031E8-816E-DF3B-94B6-7FCFC423A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D415A541-AA58-2439-3611-31573C442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1106" y="125455"/>
            <a:ext cx="319278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2"/>
                </a:solidFill>
              </a:rPr>
              <a:t>RESULTS 2</a:t>
            </a:r>
            <a:endParaRPr sz="2000" dirty="0">
              <a:solidFill>
                <a:schemeClr val="tx2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C3D480-7C82-957D-FCAC-9625615BA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787411"/>
              </p:ext>
            </p:extLst>
          </p:nvPr>
        </p:nvGraphicFramePr>
        <p:xfrm>
          <a:off x="356630" y="524955"/>
          <a:ext cx="8430739" cy="4210078"/>
        </p:xfrm>
        <a:graphic>
          <a:graphicData uri="http://schemas.openxmlformats.org/drawingml/2006/table">
            <a:tbl>
              <a:tblPr firstRow="1" firstCol="1" bandRow="1">
                <a:tableStyleId>{B3471CA4-3704-4ED3-ADB2-1DB0AA67CE59}</a:tableStyleId>
              </a:tblPr>
              <a:tblGrid>
                <a:gridCol w="316152">
                  <a:extLst>
                    <a:ext uri="{9D8B030D-6E8A-4147-A177-3AD203B41FA5}">
                      <a16:colId xmlns:a16="http://schemas.microsoft.com/office/drawing/2014/main" val="3930235982"/>
                    </a:ext>
                  </a:extLst>
                </a:gridCol>
                <a:gridCol w="987100">
                  <a:extLst>
                    <a:ext uri="{9D8B030D-6E8A-4147-A177-3AD203B41FA5}">
                      <a16:colId xmlns:a16="http://schemas.microsoft.com/office/drawing/2014/main" val="3900513984"/>
                    </a:ext>
                  </a:extLst>
                </a:gridCol>
                <a:gridCol w="540972">
                  <a:extLst>
                    <a:ext uri="{9D8B030D-6E8A-4147-A177-3AD203B41FA5}">
                      <a16:colId xmlns:a16="http://schemas.microsoft.com/office/drawing/2014/main" val="855358015"/>
                    </a:ext>
                  </a:extLst>
                </a:gridCol>
                <a:gridCol w="579613">
                  <a:extLst>
                    <a:ext uri="{9D8B030D-6E8A-4147-A177-3AD203B41FA5}">
                      <a16:colId xmlns:a16="http://schemas.microsoft.com/office/drawing/2014/main" val="2962359184"/>
                    </a:ext>
                  </a:extLst>
                </a:gridCol>
                <a:gridCol w="781014">
                  <a:extLst>
                    <a:ext uri="{9D8B030D-6E8A-4147-A177-3AD203B41FA5}">
                      <a16:colId xmlns:a16="http://schemas.microsoft.com/office/drawing/2014/main" val="2794609555"/>
                    </a:ext>
                  </a:extLst>
                </a:gridCol>
                <a:gridCol w="799750">
                  <a:extLst>
                    <a:ext uri="{9D8B030D-6E8A-4147-A177-3AD203B41FA5}">
                      <a16:colId xmlns:a16="http://schemas.microsoft.com/office/drawing/2014/main" val="3101677252"/>
                    </a:ext>
                  </a:extLst>
                </a:gridCol>
                <a:gridCol w="632306">
                  <a:extLst>
                    <a:ext uri="{9D8B030D-6E8A-4147-A177-3AD203B41FA5}">
                      <a16:colId xmlns:a16="http://schemas.microsoft.com/office/drawing/2014/main" val="2934212059"/>
                    </a:ext>
                  </a:extLst>
                </a:gridCol>
                <a:gridCol w="790381">
                  <a:extLst>
                    <a:ext uri="{9D8B030D-6E8A-4147-A177-3AD203B41FA5}">
                      <a16:colId xmlns:a16="http://schemas.microsoft.com/office/drawing/2014/main" val="2428575201"/>
                    </a:ext>
                  </a:extLst>
                </a:gridCol>
                <a:gridCol w="684998">
                  <a:extLst>
                    <a:ext uri="{9D8B030D-6E8A-4147-A177-3AD203B41FA5}">
                      <a16:colId xmlns:a16="http://schemas.microsoft.com/office/drawing/2014/main" val="3746381129"/>
                    </a:ext>
                  </a:extLst>
                </a:gridCol>
                <a:gridCol w="790381">
                  <a:extLst>
                    <a:ext uri="{9D8B030D-6E8A-4147-A177-3AD203B41FA5}">
                      <a16:colId xmlns:a16="http://schemas.microsoft.com/office/drawing/2014/main" val="4026114292"/>
                    </a:ext>
                  </a:extLst>
                </a:gridCol>
                <a:gridCol w="684998">
                  <a:extLst>
                    <a:ext uri="{9D8B030D-6E8A-4147-A177-3AD203B41FA5}">
                      <a16:colId xmlns:a16="http://schemas.microsoft.com/office/drawing/2014/main" val="3918889632"/>
                    </a:ext>
                  </a:extLst>
                </a:gridCol>
                <a:gridCol w="843074">
                  <a:extLst>
                    <a:ext uri="{9D8B030D-6E8A-4147-A177-3AD203B41FA5}">
                      <a16:colId xmlns:a16="http://schemas.microsoft.com/office/drawing/2014/main" val="3740681352"/>
                    </a:ext>
                  </a:extLst>
                </a:gridCol>
              </a:tblGrid>
              <a:tr h="237657">
                <a:tc gridSpan="1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Table 4.2: Comparison of the diagnostic accuracy of artificial intelligence models and radiologists contd.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63005"/>
                  </a:ext>
                </a:extLst>
              </a:tr>
              <a:tr h="97353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S/N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Study (Author, Year)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AUC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AUC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Sensitivity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Sensitivity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Specificity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Specificity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PPV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PPV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NPV (AI)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NPV (Human)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extLst>
                  <a:ext uri="{0D108BD9-81ED-4DB2-BD59-A6C34878D82A}">
                    <a16:rowId xmlns:a16="http://schemas.microsoft.com/office/drawing/2014/main" val="3177496757"/>
                  </a:ext>
                </a:extLst>
              </a:tr>
              <a:tr h="9996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5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Hwang et al., 2019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0.95 (0.93–0.96)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N/A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0.887 (0.843–0.922)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0.656 (0.595–0.714)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0.696 (0.665–0.727)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0.981 (0.969–0.989)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0.459 (0.415–0.505)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0.908 (0.877–0.933)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0.955 (0.937–0.968)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0.907 (0.878–0.929)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extLst>
                  <a:ext uri="{0D108BD9-81ED-4DB2-BD59-A6C34878D82A}">
                    <a16:rowId xmlns:a16="http://schemas.microsoft.com/office/drawing/2014/main" val="3578961522"/>
                  </a:ext>
                </a:extLst>
              </a:tr>
              <a:tr h="9996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6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Steiner et al., 2015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0.75(0.68-0.82)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N/A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0.594 (0.471–0.705)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0.641 (0.518–0.747)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0.783 (0.742–0.819)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0.754 (0.712–0.792)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0.281 (0.212–0.363)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0.272 (0.207–0.347)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0.931 (0.901–0.952)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0.936 (0.906–0.957)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extLst>
                  <a:ext uri="{0D108BD9-81ED-4DB2-BD59-A6C34878D82A}">
                    <a16:rowId xmlns:a16="http://schemas.microsoft.com/office/drawing/2014/main" val="1504239764"/>
                  </a:ext>
                </a:extLst>
              </a:tr>
              <a:tr h="9996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7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Homayounieh et al., 2021 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0.76(0.68-0.82)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0.717 (0.64–0.78).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0.640 (0.501–0.759)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0.440 (0.312–0.577)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0.920 (0.812–0.968)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0.920 (0.812–0.968)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0.889 (0.747–0.956)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0.846 (0.665–0.938)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bg2"/>
                          </a:solidFill>
                          <a:effectLst/>
                        </a:rPr>
                        <a:t>0.719 (0.599–0.814)</a:t>
                      </a:r>
                      <a:endParaRPr lang="en-US" sz="1100" b="1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2"/>
                          </a:solidFill>
                          <a:effectLst/>
                        </a:rPr>
                        <a:t>0.622 (0.508–0.724)</a:t>
                      </a:r>
                      <a:endParaRPr lang="en-US" sz="1100" b="1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69" marR="66769" marT="0" marB="0"/>
                </a:tc>
                <a:extLst>
                  <a:ext uri="{0D108BD9-81ED-4DB2-BD59-A6C34878D82A}">
                    <a16:rowId xmlns:a16="http://schemas.microsoft.com/office/drawing/2014/main" val="293858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55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F33C-20BC-F1FA-0A1E-CA0F197E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088D80EF-1D02-C6C1-BBFE-89FB808C6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1106" y="125455"/>
            <a:ext cx="319278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tx2"/>
                </a:solidFill>
              </a:rPr>
              <a:t>RESULTS 3</a:t>
            </a:r>
            <a:endParaRPr sz="20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59558-91ED-E82E-9763-EF84E4B9912D}"/>
              </a:ext>
            </a:extLst>
          </p:cNvPr>
          <p:cNvSpPr txBox="1"/>
          <p:nvPr/>
        </p:nvSpPr>
        <p:spPr>
          <a:xfrm>
            <a:off x="786808" y="954260"/>
            <a:ext cx="68828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Pooled AUC difference (AI – Radiologists): –0.005 (non-significant)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→ AI and radiologists had virtually identical overall diagnostic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Pooled Sensitivity OR: 1.20 (non-significant)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→ AI showed slightly higher sensitivity, but not statistically significant.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Pooled Specificity OR: 0.77 (non-significant)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→ Radiologists showed slightly higher specificity, but not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335665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8CD14-8D12-24A9-D4F7-28328E81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6AAF7AE8-D9BB-F2FA-046F-2A8B0FB24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609" y="86560"/>
            <a:ext cx="319278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</a:rPr>
              <a:t>Discussion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FF4E3C-DCDF-AEDA-54A7-9648B3145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" y="1113032"/>
            <a:ext cx="7322820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Meta-analysis shows AI performance is largely comparable to radiologists across multiple thoracic pathologies.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often demonstrates higher sensitivity, especially beneficial in screening and high-workload settings.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varies by pathology; AI performs best in detecting pneumonia, TB, cardiomegaly; less consistent with rare findings.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integration challenges and trust issues persist among clinicians.</a:t>
            </a:r>
          </a:p>
        </p:txBody>
      </p:sp>
    </p:spTree>
    <p:extLst>
      <p:ext uri="{BB962C8B-B14F-4D97-AF65-F5344CB8AC3E}">
        <p14:creationId xmlns:p14="http://schemas.microsoft.com/office/powerpoint/2010/main" val="17269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33AA-D534-0D7F-71D9-2E1C8D6F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869D7F0C-7B5D-05D8-4ED0-B143146BA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9749" y="123692"/>
            <a:ext cx="607695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tx2"/>
                </a:solidFill>
              </a:rPr>
              <a:t>Summary of Findings / Conclusion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E8CE1-9DF3-62B1-26ED-EB2672241D65}"/>
              </a:ext>
            </a:extLst>
          </p:cNvPr>
          <p:cNvSpPr txBox="1"/>
          <p:nvPr/>
        </p:nvSpPr>
        <p:spPr>
          <a:xfrm>
            <a:off x="609454" y="597562"/>
            <a:ext cx="8477540" cy="4293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2"/>
                </a:solidFill>
              </a:rPr>
              <a:t>Summary of Findings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Seven eligible studies were analyzed, covering various AI models and radiologist groups.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AI achieved similar diagnostic accuracy to radiologists overall.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Pooled AUC difference between AI and radiologists was minimal and not statistically significant.</a:t>
            </a:r>
          </a:p>
          <a:p>
            <a:pPr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AI has strong potential as a reliable diagnostic aid for chest radiograph interpretation.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Radiologists remain indispensable, especially for complex, context-dependent decisions.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Best application of AI is augmented radiology, not the replacement of experts.</a:t>
            </a:r>
          </a:p>
        </p:txBody>
      </p:sp>
    </p:spTree>
    <p:extLst>
      <p:ext uri="{BB962C8B-B14F-4D97-AF65-F5344CB8AC3E}">
        <p14:creationId xmlns:p14="http://schemas.microsoft.com/office/powerpoint/2010/main" val="345617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860B-14C5-0C44-B05F-41CD07AC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E533CF96-E75C-3692-B2F1-C004A0081A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5429" y="154172"/>
            <a:ext cx="680085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</a:rPr>
              <a:t>Areas of Further Research / Limitations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9F7D9-C35C-FDA2-386F-5F3BD3F83C6F}"/>
              </a:ext>
            </a:extLst>
          </p:cNvPr>
          <p:cNvSpPr txBox="1"/>
          <p:nvPr/>
        </p:nvSpPr>
        <p:spPr>
          <a:xfrm>
            <a:off x="673261" y="556708"/>
            <a:ext cx="8470739" cy="433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Limited number of high-quality studies meeting inclusion criteria.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Variability in AI models, datasets, and reference standards affects comparability.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2"/>
                </a:solidFill>
              </a:rPr>
              <a:t>Areas of Further Research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Large-scale, multi-center prospective trials comparing AI and radiologists.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Evaluation of AI across diverse populations and imaging conditions.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Studies on human-AI collaborative workflows and real-world clinical impact.</a:t>
            </a:r>
          </a:p>
        </p:txBody>
      </p:sp>
    </p:spTree>
    <p:extLst>
      <p:ext uri="{BB962C8B-B14F-4D97-AF65-F5344CB8AC3E}">
        <p14:creationId xmlns:p14="http://schemas.microsoft.com/office/powerpoint/2010/main" val="119943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51DB-E41E-0B4E-1F2D-F74CA941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38;p44">
            <a:extLst>
              <a:ext uri="{FF2B5EF4-FFF2-40B4-BE49-F238E27FC236}">
                <a16:creationId xmlns:a16="http://schemas.microsoft.com/office/drawing/2014/main" id="{F2FA5615-67D4-40AF-E40C-F2C09C85C8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5609" y="251241"/>
            <a:ext cx="3192781" cy="592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/>
                </a:solidFill>
              </a:rPr>
              <a:t>REFERENCES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429505-E615-0969-5979-5CBB8D36C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109" y="767464"/>
            <a:ext cx="8844891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Homayounieh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F, et al. An Artificial Intelligence–Based Chest X-ray Model on Human Nodule Detection Accuracy from a Multicenter Study.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JAMA 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2021;4(12):e2141096.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Hwang EJ, et al. Deep Learning for Chest Radiograph Diagnosis in the Emergency Department.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Radiology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2019;293(3):573–580.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Hwang EJ, et al. Conventional Versus Artificial Intelligence-Assisted Interpretation of Chest Radiographs in Patients with Acute Respiratory Symptoms.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Korean J 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Radiol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2023;24(3):259–267.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Rajpurkar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P, et al. Deep learning for chest radiograph diagnosis: A retrospective comparison of 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CheXNeXt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to practicing radiologists. 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PLoS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2018;15(11):e1002686.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Ajmera S, et al. Observer performance evaluation of a deep learning model for cardiomegaly.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 Clin Imaging Sci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2022;12:51.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Steiner A, et al. Screening for pulmonary tuberculosis in a Tanzanian prison using a radiography-based computer-aided detection system. </a:t>
            </a:r>
            <a:r>
              <a:rPr kumimoji="0" lang="en-US" altLang="en-US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Respir J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2015;46:545–552.</a:t>
            </a:r>
          </a:p>
        </p:txBody>
      </p:sp>
    </p:spTree>
    <p:extLst>
      <p:ext uri="{BB962C8B-B14F-4D97-AF65-F5344CB8AC3E}">
        <p14:creationId xmlns:p14="http://schemas.microsoft.com/office/powerpoint/2010/main" val="481402676"/>
      </p:ext>
    </p:extLst>
  </p:cSld>
  <p:clrMapOvr>
    <a:masterClrMapping/>
  </p:clrMapOvr>
</p:sld>
</file>

<file path=ppt/theme/theme1.xml><?xml version="1.0" encoding="utf-8"?>
<a:theme xmlns:a="http://schemas.openxmlformats.org/drawingml/2006/main" name="Medical Imaging Techniques Breakthrough by Slidesgo">
  <a:themeElements>
    <a:clrScheme name="Simple Light">
      <a:dk1>
        <a:srgbClr val="2C2F3A"/>
      </a:dk1>
      <a:lt1>
        <a:srgbClr val="F3F3F3"/>
      </a:lt1>
      <a:dk2>
        <a:srgbClr val="3F4760"/>
      </a:dk2>
      <a:lt2>
        <a:srgbClr val="7D69BB"/>
      </a:lt2>
      <a:accent1>
        <a:srgbClr val="DFDEFC"/>
      </a:accent1>
      <a:accent2>
        <a:srgbClr val="74D1C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C2F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1647</Words>
  <Application>Microsoft Office PowerPoint</Application>
  <PresentationFormat>On-screen Show (16:9)</PresentationFormat>
  <Paragraphs>269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Urbanist Medium</vt:lpstr>
      <vt:lpstr>Calibri</vt:lpstr>
      <vt:lpstr>Times New Roman</vt:lpstr>
      <vt:lpstr>Arial</vt:lpstr>
      <vt:lpstr>Barlow Semi Condensed ExtraBold</vt:lpstr>
      <vt:lpstr>Barlow Semi Condensed</vt:lpstr>
      <vt:lpstr>Medical Imaging Techniques Breakthrough by Slidesgo</vt:lpstr>
      <vt:lpstr>PowerPoint Presentation</vt:lpstr>
      <vt:lpstr>OUTLINE</vt:lpstr>
      <vt:lpstr>INTRODUCTION</vt:lpstr>
      <vt:lpstr>Statement of the Problem</vt:lpstr>
      <vt:lpstr>Objectives / Significance of the Study</vt:lpstr>
      <vt:lpstr>Review of Related Literature </vt:lpstr>
      <vt:lpstr>Research Methodology</vt:lpstr>
      <vt:lpstr>Flow Chart of Database Search </vt:lpstr>
      <vt:lpstr>RESULTS 1</vt:lpstr>
      <vt:lpstr>RESULTS 2</vt:lpstr>
      <vt:lpstr>RESULTS 3</vt:lpstr>
      <vt:lpstr>Discussion</vt:lpstr>
      <vt:lpstr>Summary of Findings / Conclusion</vt:lpstr>
      <vt:lpstr>Areas of Further Research / Limitations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9</cp:revision>
  <dcterms:modified xsi:type="dcterms:W3CDTF">2025-12-06T23:01:41Z</dcterms:modified>
</cp:coreProperties>
</file>